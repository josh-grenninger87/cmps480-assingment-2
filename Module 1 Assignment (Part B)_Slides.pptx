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1" r:id="rId5"/>
    <p:sldId id="320" r:id="rId6"/>
    <p:sldId id="319" r:id="rId7"/>
    <p:sldId id="318" r:id="rId8"/>
    <p:sldId id="317" r:id="rId9"/>
    <p:sldId id="322" r:id="rId10"/>
    <p:sldId id="323" r:id="rId11"/>
    <p:sldId id="324" r:id="rId12"/>
    <p:sldId id="325" r:id="rId13"/>
    <p:sldId id="326" r:id="rId14"/>
    <p:sldId id="327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0" d="100"/>
          <a:sy n="100" d="100"/>
        </p:scale>
        <p:origin x="96" y="22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B1D296-A579-2A4C-BC0C-EA14CD07C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52" y="262487"/>
            <a:ext cx="1099185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A508AD-3E88-BE40-A187-80B73131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09" y="1152525"/>
            <a:ext cx="6981766" cy="39385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E5E0F4-B948-CA0F-2787-FE5A00A408E2}"/>
              </a:ext>
            </a:extLst>
          </p:cNvPr>
          <p:cNvSpPr txBox="1"/>
          <p:nvPr/>
        </p:nvSpPr>
        <p:spPr>
          <a:xfrm>
            <a:off x="7296150" y="1092219"/>
            <a:ext cx="4352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Front end sends HTTP Requests using Axios; GET,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Back end will process requests, validate input, and perform SQL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MySQL has subscription services and historical pricing data 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Responses are returned as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HTTPS is what all communication will occur over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28CC2B-2CD0-63E5-B917-BB72EC5A397B}"/>
              </a:ext>
            </a:extLst>
          </p:cNvPr>
          <p:cNvSpPr/>
          <p:nvPr/>
        </p:nvSpPr>
        <p:spPr>
          <a:xfrm>
            <a:off x="994372" y="1286818"/>
            <a:ext cx="4476750" cy="3590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4CA1A-B70F-F0DC-1F12-30B7F2BA54C5}"/>
              </a:ext>
            </a:extLst>
          </p:cNvPr>
          <p:cNvSpPr txBox="1"/>
          <p:nvPr/>
        </p:nvSpPr>
        <p:spPr>
          <a:xfrm>
            <a:off x="1442236" y="1706390"/>
            <a:ext cx="3725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 – Subscriptions</a:t>
            </a:r>
          </a:p>
          <a:p>
            <a:endParaRPr lang="en-US" b="1" dirty="0"/>
          </a:p>
          <a:p>
            <a:r>
              <a:rPr lang="en-US" b="1" dirty="0"/>
              <a:t>Id – (INT, PK, AUTO-INCREMENT</a:t>
            </a:r>
          </a:p>
          <a:p>
            <a:endParaRPr lang="en-US" b="1" dirty="0"/>
          </a:p>
          <a:p>
            <a:r>
              <a:rPr lang="en-US" b="1" dirty="0"/>
              <a:t>Name – (VARCHAR)</a:t>
            </a:r>
          </a:p>
          <a:p>
            <a:endParaRPr lang="en-US" b="1" dirty="0"/>
          </a:p>
          <a:p>
            <a:r>
              <a:rPr lang="en-US" b="1" dirty="0"/>
              <a:t>Category (VARCHAR)</a:t>
            </a:r>
          </a:p>
          <a:p>
            <a:endParaRPr lang="en-US" b="1" dirty="0"/>
          </a:p>
          <a:p>
            <a:r>
              <a:rPr lang="en-US" b="1" dirty="0" err="1"/>
              <a:t>Current_Price</a:t>
            </a:r>
            <a:r>
              <a:rPr lang="en-US" b="1" dirty="0"/>
              <a:t> (DECIMAL)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6AC07-4E7A-1B96-5C22-DAD69D62B50F}"/>
              </a:ext>
            </a:extLst>
          </p:cNvPr>
          <p:cNvSpPr txBox="1"/>
          <p:nvPr/>
        </p:nvSpPr>
        <p:spPr>
          <a:xfrm>
            <a:off x="4218915" y="469955"/>
            <a:ext cx="401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Database Design (MySQL)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562D0F-2B75-4815-8D06-CAFE316FEA65}"/>
              </a:ext>
            </a:extLst>
          </p:cNvPr>
          <p:cNvSpPr/>
          <p:nvPr/>
        </p:nvSpPr>
        <p:spPr>
          <a:xfrm>
            <a:off x="6796134" y="1286818"/>
            <a:ext cx="4476750" cy="35909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2C6629-6CE3-0CC6-BBF1-6ED5077E02A7}"/>
              </a:ext>
            </a:extLst>
          </p:cNvPr>
          <p:cNvSpPr txBox="1"/>
          <p:nvPr/>
        </p:nvSpPr>
        <p:spPr>
          <a:xfrm>
            <a:off x="6796134" y="1706389"/>
            <a:ext cx="44767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2 – </a:t>
            </a:r>
            <a:r>
              <a:rPr lang="en-US" b="1" dirty="0" err="1"/>
              <a:t>Subscription_Prices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Id (INT, PK, AUTO-INCREMENT</a:t>
            </a:r>
          </a:p>
          <a:p>
            <a:endParaRPr lang="en-US" b="1" dirty="0"/>
          </a:p>
          <a:p>
            <a:r>
              <a:rPr lang="en-US" b="1" dirty="0" err="1"/>
              <a:t>Subscription_Id</a:t>
            </a:r>
            <a:r>
              <a:rPr lang="en-US" b="1" dirty="0"/>
              <a:t> (INT, FK – subscriptions.id</a:t>
            </a:r>
          </a:p>
          <a:p>
            <a:endParaRPr lang="en-US" b="1" dirty="0"/>
          </a:p>
          <a:p>
            <a:r>
              <a:rPr lang="en-US" b="1" dirty="0"/>
              <a:t>Price – (Decimal)</a:t>
            </a:r>
          </a:p>
          <a:p>
            <a:endParaRPr lang="en-US" b="1" dirty="0"/>
          </a:p>
          <a:p>
            <a:r>
              <a:rPr lang="en-US" b="1" dirty="0" err="1"/>
              <a:t>Effective_Date</a:t>
            </a:r>
            <a:r>
              <a:rPr lang="en-US" b="1" dirty="0"/>
              <a:t> (DATE)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DBEFDFD-67C3-7715-4400-C4B5E892B81A}"/>
              </a:ext>
            </a:extLst>
          </p:cNvPr>
          <p:cNvSpPr/>
          <p:nvPr/>
        </p:nvSpPr>
        <p:spPr>
          <a:xfrm>
            <a:off x="896627" y="799453"/>
            <a:ext cx="4644094" cy="514414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81CA9-B796-3A52-3938-B6509389C09A}"/>
              </a:ext>
            </a:extLst>
          </p:cNvPr>
          <p:cNvSpPr txBox="1"/>
          <p:nvPr/>
        </p:nvSpPr>
        <p:spPr>
          <a:xfrm>
            <a:off x="1541730" y="1673352"/>
            <a:ext cx="27522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{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"id": 1,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"name": "Spotify",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"category": "Music",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</a:t>
            </a:r>
            <a:r>
              <a:rPr lang="en-US" sz="1400" b="1" dirty="0" err="1">
                <a:solidFill>
                  <a:srgbClr val="00B0F0"/>
                </a:solidFill>
              </a:rPr>
              <a:t>currentPrice</a:t>
            </a:r>
            <a:r>
              <a:rPr lang="en-US" sz="1400" b="1" dirty="0">
                <a:solidFill>
                  <a:srgbClr val="00B0F0"/>
                </a:solidFill>
              </a:rPr>
              <a:t>": 11.99,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</a:t>
            </a:r>
            <a:r>
              <a:rPr lang="en-US" sz="1400" b="1" dirty="0" err="1">
                <a:solidFill>
                  <a:srgbClr val="00B0F0"/>
                </a:solidFill>
              </a:rPr>
              <a:t>priceChange</a:t>
            </a:r>
            <a:r>
              <a:rPr lang="en-US" sz="1400" b="1" dirty="0">
                <a:solidFill>
                  <a:srgbClr val="00B0F0"/>
                </a:solidFill>
              </a:rPr>
              <a:t>": "+2.00",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</a:t>
            </a:r>
            <a:r>
              <a:rPr lang="en-US" sz="1400" b="1" dirty="0" err="1">
                <a:solidFill>
                  <a:srgbClr val="00B0F0"/>
                </a:solidFill>
              </a:rPr>
              <a:t>lastUpdated</a:t>
            </a:r>
            <a:r>
              <a:rPr lang="en-US" sz="1400" b="1" dirty="0">
                <a:solidFill>
                  <a:srgbClr val="00B0F0"/>
                </a:solidFill>
              </a:rPr>
              <a:t>": "2025-01-15"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}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1049C-7462-B49E-E3AA-4A8C83A523A7}"/>
              </a:ext>
            </a:extLst>
          </p:cNvPr>
          <p:cNvSpPr txBox="1"/>
          <p:nvPr/>
        </p:nvSpPr>
        <p:spPr>
          <a:xfrm>
            <a:off x="1541730" y="3838965"/>
            <a:ext cx="30487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{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"id": 2,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"name": "Apple Music",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"category": "Music",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</a:t>
            </a:r>
            <a:r>
              <a:rPr lang="en-US" sz="1400" b="1" dirty="0" err="1">
                <a:solidFill>
                  <a:srgbClr val="00B0F0"/>
                </a:solidFill>
              </a:rPr>
              <a:t>currentPrice</a:t>
            </a:r>
            <a:r>
              <a:rPr lang="en-US" sz="1400" b="1" dirty="0">
                <a:solidFill>
                  <a:srgbClr val="00B0F0"/>
                </a:solidFill>
              </a:rPr>
              <a:t>": 10.99,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</a:t>
            </a:r>
            <a:r>
              <a:rPr lang="en-US" sz="1400" b="1" dirty="0" err="1">
                <a:solidFill>
                  <a:srgbClr val="00B0F0"/>
                </a:solidFill>
              </a:rPr>
              <a:t>priceChange</a:t>
            </a:r>
            <a:r>
              <a:rPr lang="en-US" sz="1400" b="1" dirty="0">
                <a:solidFill>
                  <a:srgbClr val="00B0F0"/>
                </a:solidFill>
              </a:rPr>
              <a:t>": "+1.00",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  "</a:t>
            </a:r>
            <a:r>
              <a:rPr lang="en-US" sz="1400" b="1" dirty="0" err="1">
                <a:solidFill>
                  <a:srgbClr val="00B0F0"/>
                </a:solidFill>
              </a:rPr>
              <a:t>lastUpdated</a:t>
            </a:r>
            <a:r>
              <a:rPr lang="en-US" sz="1400" b="1" dirty="0">
                <a:solidFill>
                  <a:srgbClr val="00B0F0"/>
                </a:solidFill>
              </a:rPr>
              <a:t>": "2025-01-10"</a:t>
            </a:r>
          </a:p>
          <a:p>
            <a:pPr>
              <a:buNone/>
            </a:pPr>
            <a:r>
              <a:rPr lang="en-US" sz="1400" b="1" dirty="0">
                <a:solidFill>
                  <a:srgbClr val="00B0F0"/>
                </a:solidFill>
              </a:rPr>
              <a:t>}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EEFEEB-B695-AE7F-D78E-4E43261087A4}"/>
              </a:ext>
            </a:extLst>
          </p:cNvPr>
          <p:cNvSpPr txBox="1"/>
          <p:nvPr/>
        </p:nvSpPr>
        <p:spPr>
          <a:xfrm>
            <a:off x="4517810" y="224478"/>
            <a:ext cx="2978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Examples of JSON 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CFD65-2573-9CFB-D93B-F63E23D8EF76}"/>
              </a:ext>
            </a:extLst>
          </p:cNvPr>
          <p:cNvSpPr txBox="1"/>
          <p:nvPr/>
        </p:nvSpPr>
        <p:spPr>
          <a:xfrm>
            <a:off x="1105549" y="959877"/>
            <a:ext cx="3624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Using a hypothetical URL: GET/</a:t>
            </a:r>
            <a:r>
              <a:rPr lang="en-US" b="1" dirty="0" err="1">
                <a:solidFill>
                  <a:srgbClr val="FFFF00"/>
                </a:solidFill>
              </a:rPr>
              <a:t>api</a:t>
            </a:r>
            <a:r>
              <a:rPr lang="en-US" b="1" dirty="0">
                <a:solidFill>
                  <a:srgbClr val="FFFF00"/>
                </a:solidFill>
              </a:rPr>
              <a:t>/v1/subscriptions/popular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45E6DE-8E44-07E7-4E4C-EA3F0F959C83}"/>
              </a:ext>
            </a:extLst>
          </p:cNvPr>
          <p:cNvSpPr/>
          <p:nvPr/>
        </p:nvSpPr>
        <p:spPr>
          <a:xfrm>
            <a:off x="6651281" y="799453"/>
            <a:ext cx="4644094" cy="514414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C5F6CC-6981-133F-37D3-BFD2007B40D5}"/>
              </a:ext>
            </a:extLst>
          </p:cNvPr>
          <p:cNvSpPr txBox="1"/>
          <p:nvPr/>
        </p:nvSpPr>
        <p:spPr>
          <a:xfrm>
            <a:off x="7093036" y="959876"/>
            <a:ext cx="3760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Using a hypothetical URL: GET/</a:t>
            </a:r>
            <a:r>
              <a:rPr lang="en-US" b="1" dirty="0" err="1">
                <a:solidFill>
                  <a:srgbClr val="FFFF00"/>
                </a:solidFill>
              </a:rPr>
              <a:t>api</a:t>
            </a:r>
            <a:r>
              <a:rPr lang="en-US" b="1" dirty="0">
                <a:solidFill>
                  <a:srgbClr val="FFFF00"/>
                </a:solidFill>
              </a:rPr>
              <a:t>/v1/subscriptions/:id/history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D6E943-507F-437F-BA39-C7C47296D472}"/>
              </a:ext>
            </a:extLst>
          </p:cNvPr>
          <p:cNvSpPr txBox="1"/>
          <p:nvPr/>
        </p:nvSpPr>
        <p:spPr>
          <a:xfrm>
            <a:off x="6914585" y="1766630"/>
            <a:ext cx="39390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{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"success": true,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"data": {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"id": 1,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"name": "Spotify",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"history": [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   { "date": "2023-01-01", "price": 9.99},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   { "date": "2024-01-01", "price": 9.99 },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   { "date": "2025-01-15", "price": 11.99 }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  ]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   }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06B8-D15C-3916-2C66-49DEC593A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9267" y="224591"/>
            <a:ext cx="10115939" cy="753183"/>
          </a:xfrm>
        </p:spPr>
        <p:txBody>
          <a:bodyPr/>
          <a:lstStyle/>
          <a:p>
            <a:r>
              <a:rPr lang="en-US" dirty="0"/>
              <a:t>Data Sensitivity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65C29-6792-22D7-936C-F17A5FFF93D7}"/>
              </a:ext>
            </a:extLst>
          </p:cNvPr>
          <p:cNvSpPr txBox="1"/>
          <p:nvPr/>
        </p:nvSpPr>
        <p:spPr>
          <a:xfrm>
            <a:off x="950614" y="968719"/>
            <a:ext cx="40378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Data that Could be Sensitive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Account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Administrative Access Endpoints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C6BCC-8597-DAEB-1958-0E654B2DCB80}"/>
              </a:ext>
            </a:extLst>
          </p:cNvPr>
          <p:cNvSpPr txBox="1"/>
          <p:nvPr/>
        </p:nvSpPr>
        <p:spPr>
          <a:xfrm>
            <a:off x="6169886" y="977774"/>
            <a:ext cx="51153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How We Will Protect Sensitive Data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Parameterized SQL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Restricted Database User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Environment Variable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0816A-BDB9-2684-FC84-C15A09824C01}"/>
              </a:ext>
            </a:extLst>
          </p:cNvPr>
          <p:cNvSpPr txBox="1"/>
          <p:nvPr/>
        </p:nvSpPr>
        <p:spPr>
          <a:xfrm>
            <a:off x="3444894" y="3301695"/>
            <a:ext cx="46307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Technologies To Protect Sensitive Data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Express Middleware (I.E. helmet, </a:t>
            </a:r>
            <a:r>
              <a:rPr lang="en-US" dirty="0" err="1"/>
              <a:t>cors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MySQL User Roles and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.env Configuration Files</a:t>
            </a: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87FD45-9C0E-D629-A69F-9343FEFF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30" y="905347"/>
            <a:ext cx="10415648" cy="50276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AF9821-1DED-6DF5-08F5-431B8E031731}"/>
              </a:ext>
            </a:extLst>
          </p:cNvPr>
          <p:cNvSpPr txBox="1"/>
          <p:nvPr/>
        </p:nvSpPr>
        <p:spPr>
          <a:xfrm>
            <a:off x="4789283" y="271603"/>
            <a:ext cx="2270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Model 1</a:t>
            </a:r>
          </a:p>
        </p:txBody>
      </p:sp>
    </p:spTree>
    <p:extLst>
      <p:ext uri="{BB962C8B-B14F-4D97-AF65-F5344CB8AC3E}">
        <p14:creationId xmlns:p14="http://schemas.microsoft.com/office/powerpoint/2010/main" val="214331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8C5C4-71D0-DC7A-A110-2062340D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93" y="906827"/>
            <a:ext cx="10393378" cy="50503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D71561-E5E1-716E-ED36-BB3A203A374C}"/>
              </a:ext>
            </a:extLst>
          </p:cNvPr>
          <p:cNvSpPr txBox="1"/>
          <p:nvPr/>
        </p:nvSpPr>
        <p:spPr>
          <a:xfrm>
            <a:off x="4336610" y="344032"/>
            <a:ext cx="262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Model 2</a:t>
            </a:r>
          </a:p>
        </p:txBody>
      </p:sp>
    </p:spTree>
    <p:extLst>
      <p:ext uri="{BB962C8B-B14F-4D97-AF65-F5344CB8AC3E}">
        <p14:creationId xmlns:p14="http://schemas.microsoft.com/office/powerpoint/2010/main" val="215000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4EF4-FDFF-3A45-4E5E-B7D398B1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B21ED-3B7D-8191-8E00-238929082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375E9-F3D0-EE4F-A6B9-F3FDDEDDA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89" y="884756"/>
            <a:ext cx="10363561" cy="509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58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BABF-A511-7981-DA37-BC107EF3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15032-9CE9-53BD-B9A9-A540697929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D6395-7AF0-CACA-FDFF-CA27D98E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60" y="905595"/>
            <a:ext cx="10411215" cy="501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2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173733-D39D-9113-994F-0533FB3FC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912203"/>
            <a:ext cx="10372725" cy="505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72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77F6F-0DEA-3871-56DC-2EDFC62F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B960D-15E5-8A0B-EA63-88933FBEC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11B39-2B3C-0336-CD65-9E33C634D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894097"/>
            <a:ext cx="10410825" cy="504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1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1752DD-C149-2578-8BDB-C2A1E6ABCE28}"/>
              </a:ext>
            </a:extLst>
          </p:cNvPr>
          <p:cNvSpPr txBox="1"/>
          <p:nvPr/>
        </p:nvSpPr>
        <p:spPr>
          <a:xfrm>
            <a:off x="2209046" y="1041149"/>
            <a:ext cx="699832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Group</a:t>
            </a:r>
          </a:p>
          <a:p>
            <a:pPr algn="ctr"/>
            <a:endParaRPr lang="en-US" dirty="0"/>
          </a:p>
          <a:p>
            <a:pPr algn="ctr"/>
            <a:r>
              <a:rPr lang="en-US" sz="2800" dirty="0"/>
              <a:t>Jared Peck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Casey Altmeyer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Josh Grenninger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Quinton Alexandre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{FAF9EE0B-C3D6-4F13-B677-D36109AE8CD3}TF3977e381-cba5-49b1-ba43-b5d865517af907ebbda9_win32-372d4d6ae720</Template>
  <TotalTime>1610</TotalTime>
  <Words>379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Tisa Offc Serif Pro</vt:lpstr>
      <vt:lpstr>Univers Light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GRENNINGER, JOSHUA J</dc:creator>
  <cp:lastModifiedBy>GRENNINGER, JOSHUA J</cp:lastModifiedBy>
  <cp:revision>2</cp:revision>
  <dcterms:created xsi:type="dcterms:W3CDTF">2026-02-01T21:47:35Z</dcterms:created>
  <dcterms:modified xsi:type="dcterms:W3CDTF">2026-02-03T00:37:42Z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